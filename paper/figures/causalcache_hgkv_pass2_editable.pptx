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HGKV: gated K/V interface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502920" y="960120"/>
            <a:ext cx="466344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9050">
            <a:solidFill>
              <a:srgbClr val="18212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96012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self-attention, last 8 layers  </a:t>
            </a:r>
            <a:pPr algn="ctr" indent="0" marL="0">
              <a:buNone/>
            </a:pPr>
            <a:r>
              <a:rPr lang="en-US" sz="1200" dirty="0">
                <a:solidFill>
                  <a:srgbClr val="6672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685800" y="3017520"/>
            <a:ext cx="310896" cy="310896"/>
          </a:xfrm>
          <a:prstGeom prst="rect">
            <a:avLst/>
          </a:prstGeom>
          <a:solidFill>
            <a:srgbClr val="D9DEE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3017520"/>
            <a:ext cx="310896" cy="310896"/>
          </a:xfrm>
          <a:prstGeom prst="rect">
            <a:avLst/>
          </a:prstGeom>
          <a:solidFill>
            <a:srgbClr val="D9DEE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7320" y="3017520"/>
            <a:ext cx="310896" cy="310896"/>
          </a:xfrm>
          <a:prstGeom prst="rect">
            <a:avLst/>
          </a:prstGeom>
          <a:solidFill>
            <a:srgbClr val="D9DEE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783080" y="3017520"/>
            <a:ext cx="310896" cy="310896"/>
          </a:xfrm>
          <a:prstGeom prst="rect">
            <a:avLst/>
          </a:prstGeom>
          <a:solidFill>
            <a:srgbClr val="D9DEE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48840" y="3017520"/>
            <a:ext cx="310896" cy="310896"/>
          </a:xfrm>
          <a:prstGeom prst="rect">
            <a:avLst/>
          </a:prstGeom>
          <a:solidFill>
            <a:srgbClr val="E9DDF3"/>
          </a:solidFill>
          <a:ln w="28575">
            <a:solidFill>
              <a:srgbClr val="6B46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14600" y="3017520"/>
            <a:ext cx="310896" cy="310896"/>
          </a:xfrm>
          <a:prstGeom prst="rect">
            <a:avLst/>
          </a:prstGeom>
          <a:solidFill>
            <a:srgbClr val="E9DDF3"/>
          </a:solidFill>
          <a:ln w="28575">
            <a:solidFill>
              <a:srgbClr val="6B46A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80360" y="3017520"/>
            <a:ext cx="310896" cy="310896"/>
          </a:xfrm>
          <a:prstGeom prst="rect">
            <a:avLst/>
          </a:prstGeom>
          <a:solidFill>
            <a:srgbClr val="E9DDF3"/>
          </a:solidFill>
          <a:ln w="28575">
            <a:solidFill>
              <a:srgbClr val="6B46A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3017520"/>
            <a:ext cx="310896" cy="310896"/>
          </a:xfrm>
          <a:prstGeom prst="rect">
            <a:avLst/>
          </a:prstGeom>
          <a:solidFill>
            <a:srgbClr val="5B677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11880" y="3017520"/>
            <a:ext cx="310896" cy="310896"/>
          </a:xfrm>
          <a:prstGeom prst="rect">
            <a:avLst/>
          </a:prstGeom>
          <a:solidFill>
            <a:srgbClr val="5B677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77640" y="3017520"/>
            <a:ext cx="310896" cy="310896"/>
          </a:xfrm>
          <a:prstGeom prst="rect">
            <a:avLst/>
          </a:prstGeom>
          <a:solidFill>
            <a:srgbClr val="5B6773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43400" y="3017520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09160" y="3017520"/>
            <a:ext cx="310896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109728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9728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46304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6304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182880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2880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2194560" y="3456432"/>
            <a:ext cx="219456" cy="219456"/>
          </a:xfrm>
          <a:prstGeom prst="rect">
            <a:avLst/>
          </a:prstGeom>
          <a:solidFill>
            <a:srgbClr val="FFFFFF"/>
          </a:solidFill>
          <a:ln w="22225">
            <a:solidFill>
              <a:srgbClr val="6B46A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19456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2560320" y="3456432"/>
            <a:ext cx="219456" cy="219456"/>
          </a:xfrm>
          <a:prstGeom prst="rect">
            <a:avLst/>
          </a:prstGeom>
          <a:solidFill>
            <a:srgbClr val="FFFFFF"/>
          </a:solidFill>
          <a:ln w="22225">
            <a:solidFill>
              <a:srgbClr val="6B46A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56032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2926080" y="3456432"/>
            <a:ext cx="219456" cy="219456"/>
          </a:xfrm>
          <a:prstGeom prst="rect">
            <a:avLst/>
          </a:prstGeom>
          <a:solidFill>
            <a:srgbClr val="FFFFFF"/>
          </a:solidFill>
          <a:ln w="22225">
            <a:solidFill>
              <a:srgbClr val="6B46A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92608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29184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29184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65760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02336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02336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8912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8912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754880" y="3456432"/>
            <a:ext cx="219456" cy="219456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754880" y="345643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18288" y="3456432"/>
            <a:ext cx="621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704088" y="37673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summaries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1984248" y="37673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restored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img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3081528" y="37673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</a:t>
            </a:r>
            <a:endParaRPr lang="en-US" sz="950" dirty="0"/>
          </a:p>
        </p:txBody>
      </p:sp>
      <p:sp>
        <p:nvSpPr>
          <p:cNvPr id="45" name="Text 43"/>
          <p:cNvSpPr/>
          <p:nvPr/>
        </p:nvSpPr>
        <p:spPr>
          <a:xfrm>
            <a:off x="3995928" y="3767328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resp.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1801368" y="2084832"/>
            <a:ext cx="1737360" cy="402336"/>
          </a:xfrm>
          <a:prstGeom prst="roundRect">
            <a:avLst>
              <a:gd name="adj" fmla="val 11364"/>
            </a:avLst>
          </a:prstGeom>
          <a:solidFill>
            <a:srgbClr val="E9DDF3"/>
          </a:solidFill>
          <a:ln w="28575">
            <a:solidFill>
              <a:srgbClr val="6B46A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801368" y="2084832"/>
            <a:ext cx="17373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ΔK, ΔV (low-rank)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3584448" y="2103120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g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 flipV="1">
            <a:off x="2670048" y="2487168"/>
            <a:ext cx="0" cy="530352"/>
          </a:xfrm>
          <a:prstGeom prst="line">
            <a:avLst/>
          </a:prstGeom>
          <a:noFill/>
          <a:ln w="31750">
            <a:solidFill>
              <a:srgbClr val="6B46A1"/>
            </a:solidFill>
            <a:prstDash val="solid"/>
            <a:tailEnd type="triangle"/>
          </a:ln>
        </p:spPr>
      </p:sp>
      <p:sp>
        <p:nvSpPr>
          <p:cNvPr id="50" name="Shape 48"/>
          <p:cNvSpPr/>
          <p:nvPr/>
        </p:nvSpPr>
        <p:spPr>
          <a:xfrm flipV="1">
            <a:off x="2670048" y="1737360"/>
            <a:ext cx="0" cy="347472"/>
          </a:xfrm>
          <a:prstGeom prst="line">
            <a:avLst/>
          </a:prstGeom>
          <a:noFill/>
          <a:ln w="31750">
            <a:solidFill>
              <a:srgbClr val="6B46A1"/>
            </a:solidFill>
            <a:prstDash val="solid"/>
            <a:tailEnd type="triangle"/>
          </a:ln>
        </p:spPr>
      </p:sp>
      <p:sp>
        <p:nvSpPr>
          <p:cNvPr id="51" name="Shape 49"/>
          <p:cNvSpPr/>
          <p:nvPr/>
        </p:nvSpPr>
        <p:spPr>
          <a:xfrm flipV="1">
            <a:off x="1207008" y="1737360"/>
            <a:ext cx="0" cy="128016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 flipV="1">
            <a:off x="3767328" y="1737360"/>
            <a:ext cx="0" cy="128016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53" name="Shape 51"/>
          <p:cNvSpPr/>
          <p:nvPr/>
        </p:nvSpPr>
        <p:spPr>
          <a:xfrm flipV="1">
            <a:off x="4498848" y="1737360"/>
            <a:ext cx="0" cy="128016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502920" y="43434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0  ⇒  g ≡ 0  ⇒  bitwise-exact frozen policy      </a:t>
            </a:r>
            <a:pPr indent="0" marL="0">
              <a:buNone/>
            </a:pPr>
            <a:r>
              <a:rPr lang="en-US" sz="1050" dirty="0">
                <a:solidFill>
                  <a:srgbClr val="6672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❄</a:t>
            </a:r>
            <a:pPr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frozen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6309360" y="3200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proposal-conditioned re-decision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6236208" y="978408"/>
            <a:ext cx="2651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18212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309360" y="105156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65392" y="105156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21424" y="105156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077456" y="105156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333488" y="105156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89520" y="1051560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845552" y="1051560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01584" y="1051560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8357616" y="1051560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613648" y="1051560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309360" y="1399032"/>
            <a:ext cx="2651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672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Recent-B</a:t>
            </a:r>
            <a:endParaRPr lang="en-US" sz="950" dirty="0"/>
          </a:p>
        </p:txBody>
      </p:sp>
      <p:sp>
        <p:nvSpPr>
          <p:cNvPr id="68" name="Shape 66"/>
          <p:cNvSpPr/>
          <p:nvPr/>
        </p:nvSpPr>
        <p:spPr>
          <a:xfrm>
            <a:off x="8979408" y="1179576"/>
            <a:ext cx="292608" cy="0"/>
          </a:xfrm>
          <a:prstGeom prst="line">
            <a:avLst/>
          </a:prstGeom>
          <a:noFill/>
          <a:ln w="19050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9326880" y="987552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8212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326880" y="987552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policy+</a:t>
            </a:r>
            <a:pPr algn="ctr" indent="0" marL="0">
              <a:buNone/>
            </a:pPr>
            <a:r>
              <a:rPr lang="en-US" sz="1050" b="1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HGKV</a:t>
            </a:r>
            <a:pPr algn="ctr" indent="0" marL="0">
              <a:buNone/>
            </a:pPr>
            <a:r>
              <a:rPr lang="en-US" sz="1050" dirty="0">
                <a:solidFill>
                  <a:srgbClr val="6672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❄</a:t>
            </a:r>
            <a:endParaRPr lang="en-US" sz="1050" dirty="0"/>
          </a:p>
        </p:txBody>
      </p:sp>
      <p:sp>
        <p:nvSpPr>
          <p:cNvPr id="71" name="Shape 69"/>
          <p:cNvSpPr/>
          <p:nvPr/>
        </p:nvSpPr>
        <p:spPr>
          <a:xfrm>
            <a:off x="10552176" y="1179576"/>
            <a:ext cx="274320" cy="0"/>
          </a:xfrm>
          <a:prstGeom prst="line">
            <a:avLst/>
          </a:prstGeom>
          <a:noFill/>
          <a:ln w="19050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10863072" y="1033272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a₁  (proposal)</a:t>
            </a:r>
            <a:endParaRPr lang="en-US" sz="1100" dirty="0"/>
          </a:p>
        </p:txBody>
      </p:sp>
      <p:sp>
        <p:nvSpPr>
          <p:cNvPr id="73" name="Shape 71"/>
          <p:cNvSpPr/>
          <p:nvPr/>
        </p:nvSpPr>
        <p:spPr>
          <a:xfrm flipV="1">
            <a:off x="6629400" y="2103120"/>
            <a:ext cx="1554480" cy="566928"/>
          </a:xfrm>
          <a:prstGeom prst="trapezoid">
            <a:avLst/>
          </a:prstGeom>
          <a:solidFill>
            <a:srgbClr val="FFFFFF"/>
          </a:solidFill>
          <a:ln w="15875">
            <a:solidFill>
              <a:srgbClr val="18212B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629400" y="2103120"/>
            <a:ext cx="1554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feats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witness(a₁)</a:t>
            </a:r>
            <a:endParaRPr lang="en-US" sz="900" dirty="0"/>
          </a:p>
        </p:txBody>
      </p:sp>
      <p:sp>
        <p:nvSpPr>
          <p:cNvPr id="75" name="Shape 73"/>
          <p:cNvSpPr/>
          <p:nvPr/>
        </p:nvSpPr>
        <p:spPr>
          <a:xfrm flipV="1">
            <a:off x="8641080" y="2103120"/>
            <a:ext cx="1280160" cy="566928"/>
          </a:xfrm>
          <a:prstGeom prst="trapezoid">
            <a:avLst/>
          </a:prstGeom>
          <a:solidFill>
            <a:srgbClr val="FFFFFF"/>
          </a:solidFill>
          <a:ln w="15875">
            <a:solidFill>
              <a:srgbClr val="18212B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641080" y="2103120"/>
            <a:ext cx="1280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</a:t>
            </a:r>
            <a:endParaRPr lang="en-US" sz="900" dirty="0"/>
          </a:p>
        </p:txBody>
      </p:sp>
      <p:sp>
        <p:nvSpPr>
          <p:cNvPr id="77" name="Shape 75"/>
          <p:cNvSpPr/>
          <p:nvPr/>
        </p:nvSpPr>
        <p:spPr>
          <a:xfrm>
            <a:off x="11128248" y="1344168"/>
            <a:ext cx="0" cy="484632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7406640" y="1828800"/>
            <a:ext cx="3721608" cy="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7406640" y="1828800"/>
            <a:ext cx="0" cy="27432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80" name="Text 78"/>
          <p:cNvSpPr/>
          <p:nvPr/>
        </p:nvSpPr>
        <p:spPr>
          <a:xfrm>
            <a:off x="9710928" y="159105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witness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8211312" y="2880360"/>
            <a:ext cx="128016" cy="128016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8212B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406640" y="2670048"/>
            <a:ext cx="822960" cy="210312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83" name="Shape 81"/>
          <p:cNvSpPr/>
          <p:nvPr/>
        </p:nvSpPr>
        <p:spPr>
          <a:xfrm flipH="1" flipV="1">
            <a:off x="8321040" y="2880360"/>
            <a:ext cx="960120" cy="-210312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84" name="Shape 82"/>
          <p:cNvSpPr/>
          <p:nvPr/>
        </p:nvSpPr>
        <p:spPr>
          <a:xfrm>
            <a:off x="8275320" y="3008376"/>
            <a:ext cx="0" cy="210312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85" name="Shape 83"/>
          <p:cNvSpPr/>
          <p:nvPr/>
        </p:nvSpPr>
        <p:spPr>
          <a:xfrm>
            <a:off x="6812280" y="3218688"/>
            <a:ext cx="292608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15875">
            <a:solidFill>
              <a:srgbClr val="18212B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967728" y="3566160"/>
            <a:ext cx="164592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232904" y="3328416"/>
            <a:ext cx="164592" cy="347472"/>
          </a:xfrm>
          <a:prstGeom prst="rect">
            <a:avLst/>
          </a:prstGeom>
          <a:solidFill>
            <a:srgbClr val="C85A00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498080" y="3547872"/>
            <a:ext cx="164592" cy="128016"/>
          </a:xfrm>
          <a:prstGeom prst="rect">
            <a:avLst/>
          </a:prstGeom>
          <a:solidFill>
            <a:srgbClr val="FFFFFF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763256" y="3584448"/>
            <a:ext cx="164592" cy="91440"/>
          </a:xfrm>
          <a:prstGeom prst="rect">
            <a:avLst/>
          </a:prstGeom>
          <a:solidFill>
            <a:srgbClr val="FFFFFF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028432" y="3511296"/>
            <a:ext cx="164592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8293608" y="3566160"/>
            <a:ext cx="164592" cy="109728"/>
          </a:xfrm>
          <a:prstGeom prst="rect">
            <a:avLst/>
          </a:prstGeom>
          <a:solidFill>
            <a:srgbClr val="FFFFFF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8558784" y="3364992"/>
            <a:ext cx="164592" cy="310896"/>
          </a:xfrm>
          <a:prstGeom prst="rect">
            <a:avLst/>
          </a:prstGeom>
          <a:solidFill>
            <a:srgbClr val="1769AA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8823960" y="3547872"/>
            <a:ext cx="164592" cy="128016"/>
          </a:xfrm>
          <a:prstGeom prst="rect">
            <a:avLst/>
          </a:prstGeom>
          <a:solidFill>
            <a:srgbClr val="FFFFFF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089136" y="3401568"/>
            <a:ext cx="164592" cy="274320"/>
          </a:xfrm>
          <a:prstGeom prst="rect">
            <a:avLst/>
          </a:prstGeom>
          <a:solidFill>
            <a:srgbClr val="1769AA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9354312" y="3346704"/>
            <a:ext cx="164592" cy="329184"/>
          </a:xfrm>
          <a:prstGeom prst="rect">
            <a:avLst/>
          </a:prstGeom>
          <a:solidFill>
            <a:srgbClr val="1769AA"/>
          </a:solidFill>
          <a:ln w="9525">
            <a:solidFill>
              <a:srgbClr val="18212B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9829800" y="336499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S*,  |S*| = B</a:t>
            </a:r>
            <a:endParaRPr lang="en-US" sz="1050" dirty="0"/>
          </a:p>
        </p:txBody>
      </p:sp>
      <p:sp>
        <p:nvSpPr>
          <p:cNvPr id="97" name="Shape 95"/>
          <p:cNvSpPr/>
          <p:nvPr/>
        </p:nvSpPr>
        <p:spPr>
          <a:xfrm>
            <a:off x="8275320" y="3785616"/>
            <a:ext cx="0" cy="27432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98" name="Text 96"/>
          <p:cNvSpPr/>
          <p:nvPr/>
        </p:nvSpPr>
        <p:spPr>
          <a:xfrm>
            <a:off x="7452360" y="405993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S* = recent tail?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9144000" y="4187952"/>
            <a:ext cx="502920" cy="0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100" name="Text 98"/>
          <p:cNvSpPr/>
          <p:nvPr/>
        </p:nvSpPr>
        <p:spPr>
          <a:xfrm>
            <a:off x="9162288" y="3950208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101" name="Text 99"/>
          <p:cNvSpPr/>
          <p:nvPr/>
        </p:nvSpPr>
        <p:spPr>
          <a:xfrm>
            <a:off x="9692640" y="405993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a₁</a:t>
            </a:r>
            <a:endParaRPr lang="en-US" sz="1050" dirty="0"/>
          </a:p>
        </p:txBody>
      </p:sp>
      <p:sp>
        <p:nvSpPr>
          <p:cNvPr id="102" name="Shape 100"/>
          <p:cNvSpPr/>
          <p:nvPr/>
        </p:nvSpPr>
        <p:spPr>
          <a:xfrm>
            <a:off x="8275320" y="4315968"/>
            <a:ext cx="0" cy="292608"/>
          </a:xfrm>
          <a:prstGeom prst="line">
            <a:avLst/>
          </a:prstGeom>
          <a:noFill/>
          <a:ln w="15875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8339328" y="433425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04" name="Shape 102"/>
          <p:cNvSpPr/>
          <p:nvPr/>
        </p:nvSpPr>
        <p:spPr>
          <a:xfrm>
            <a:off x="6236208" y="4645152"/>
            <a:ext cx="2651760" cy="347472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15875">
            <a:solidFill>
              <a:srgbClr val="18212B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6309360" y="471830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6565392" y="4718304"/>
            <a:ext cx="201168" cy="201168"/>
          </a:xfrm>
          <a:prstGeom prst="rect">
            <a:avLst/>
          </a:prstGeom>
          <a:solidFill>
            <a:srgbClr val="FCE8D5"/>
          </a:solidFill>
          <a:ln w="22225">
            <a:solidFill>
              <a:srgbClr val="C85A0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6821424" y="471830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077456" y="471830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333488" y="471830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589520" y="471830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845552" y="4718304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101584" y="4718304"/>
            <a:ext cx="201168" cy="201168"/>
          </a:xfrm>
          <a:prstGeom prst="rect">
            <a:avLst/>
          </a:prstGeom>
          <a:solidFill>
            <a:srgbClr val="FFFFFF"/>
          </a:solidFill>
          <a:ln w="12700">
            <a:solidFill>
              <a:srgbClr val="18212B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357616" y="4718304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613648" y="4718304"/>
            <a:ext cx="201168" cy="201168"/>
          </a:xfrm>
          <a:prstGeom prst="rect">
            <a:avLst/>
          </a:prstGeom>
          <a:solidFill>
            <a:srgbClr val="DCEAF5"/>
          </a:solidFill>
          <a:ln w="22225">
            <a:solidFill>
              <a:srgbClr val="1769AA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8979408" y="4846320"/>
            <a:ext cx="292608" cy="0"/>
          </a:xfrm>
          <a:prstGeom prst="line">
            <a:avLst/>
          </a:prstGeom>
          <a:noFill/>
          <a:ln w="19050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116" name="Shape 114"/>
          <p:cNvSpPr/>
          <p:nvPr/>
        </p:nvSpPr>
        <p:spPr>
          <a:xfrm>
            <a:off x="9326880" y="4654296"/>
            <a:ext cx="1188720" cy="384048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18212B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26880" y="4654296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policy+</a:t>
            </a:r>
            <a:pPr algn="ctr" indent="0" marL="0">
              <a:buNone/>
            </a:pPr>
            <a:r>
              <a:rPr lang="en-US" sz="1050" b="1" dirty="0">
                <a:solidFill>
                  <a:srgbClr val="6B46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HGKV</a:t>
            </a:r>
            <a:pPr algn="ctr" indent="0" marL="0">
              <a:buNone/>
            </a:pPr>
            <a:r>
              <a:rPr lang="en-US" sz="1050" dirty="0">
                <a:solidFill>
                  <a:srgbClr val="6672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❄</a:t>
            </a:r>
            <a:endParaRPr lang="en-US" sz="1050" dirty="0"/>
          </a:p>
        </p:txBody>
      </p:sp>
      <p:sp>
        <p:nvSpPr>
          <p:cNvPr id="118" name="Shape 116"/>
          <p:cNvSpPr/>
          <p:nvPr/>
        </p:nvSpPr>
        <p:spPr>
          <a:xfrm>
            <a:off x="10552176" y="4846320"/>
            <a:ext cx="274320" cy="0"/>
          </a:xfrm>
          <a:prstGeom prst="line">
            <a:avLst/>
          </a:prstGeom>
          <a:noFill/>
          <a:ln w="19050">
            <a:solidFill>
              <a:srgbClr val="18212B"/>
            </a:solidFill>
            <a:prstDash val="solid"/>
            <a:tailEnd type="triangle"/>
          </a:ln>
        </p:spPr>
      </p:sp>
      <p:sp>
        <p:nvSpPr>
          <p:cNvPr id="119" name="Text 117"/>
          <p:cNvSpPr/>
          <p:nvPr/>
        </p:nvSpPr>
        <p:spPr>
          <a:xfrm>
            <a:off x="10863072" y="4700016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8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a₂  (final)</a:t>
            </a:r>
            <a:endParaRPr lang="en-US" sz="1100" dirty="0"/>
          </a:p>
        </p:txBody>
      </p:sp>
      <p:sp>
        <p:nvSpPr>
          <p:cNvPr id="120" name="Text 118"/>
          <p:cNvSpPr/>
          <p:nvPr/>
        </p:nvSpPr>
        <p:spPr>
          <a:xfrm>
            <a:off x="6309360" y="5193792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72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weights; 2nd pass only on displacement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2026-07-28T09:16:52Z</dcterms:created>
  <dcterms:modified xsi:type="dcterms:W3CDTF">2026-07-28T09:16:52Z</dcterms:modified>
</cp:coreProperties>
</file>