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477500" cy="3429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43"/>
  </p:normalViewPr>
  <p:slideViewPr>
    <p:cSldViewPr snapToGrid="0">
      <p:cViewPr varScale="1">
        <p:scale>
          <a:sx n="138" d="100"/>
          <a:sy n="138" d="100"/>
        </p:scale>
        <p:origin x="208" y="9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audited case: data/results/mobileworld_hgkv_selected_b4/qualitative_cart_audit.json</a:t>
            </a:r>
          </a:p>
          <a:p>
            <a:r>
              <a:t>- Local de-identified crops: paper/figures/assets/cart_order_evidence.png; paper/figures/assets/cart_message_input.png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race-line">
            <a:extLst>
              <a:ext uri="{FF2B5EF4-FFF2-40B4-BE49-F238E27FC236}">
                <a16:creationId xmlns:a16="http://schemas.microsoft.com/office/drawing/2014/main" id="{7406C35B-CCEE-4F6A-ACA3-6EACA9A90A79}"/>
              </a:ext>
            </a:extLst>
          </p:cNvPr>
          <p:cNvSpPr>
            <a:spLocks noGrp="1"/>
          </p:cNvSpPr>
          <p:nvPr/>
        </p:nvSpPr>
        <p:spPr>
          <a:xfrm>
            <a:off x="285750" y="1343025"/>
            <a:ext cx="3333750" cy="0"/>
          </a:xfrm>
          <a:prstGeom prst="line">
            <a:avLst/>
          </a:prstGeom>
          <a:noFill/>
          <a:ln w="14288">
            <a:solidFill>
              <a:srgbClr val="17212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recent-current-head">
            <a:extLst>
              <a:ext uri="{FF2B5EF4-FFF2-40B4-BE49-F238E27FC236}">
                <a16:creationId xmlns:a16="http://schemas.microsoft.com/office/drawing/2014/main" id="{E763AA32-10B5-40EA-B0AF-3A7AB52226D2}"/>
              </a:ext>
            </a:extLst>
          </p:cNvPr>
          <p:cNvSpPr>
            <a:spLocks noGrp="1"/>
          </p:cNvSpPr>
          <p:nvPr/>
        </p:nvSpPr>
        <p:spPr>
          <a:xfrm rot="7500000">
            <a:off x="6541082" y="1519672"/>
            <a:ext cx="85725" cy="85725"/>
          </a:xfrm>
          <a:prstGeom prst="triangle">
            <a:avLst/>
          </a:prstGeom>
          <a:solidFill>
            <a:srgbClr val="2E6F9E"/>
          </a:solidFill>
          <a:ln w="0">
            <a:solidFill>
              <a:srgbClr val="2E6F9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e7-current-head">
            <a:extLst>
              <a:ext uri="{FF2B5EF4-FFF2-40B4-BE49-F238E27FC236}">
                <a16:creationId xmlns:a16="http://schemas.microsoft.com/office/drawing/2014/main" id="{9F08A7A7-9877-4A4B-98C9-385688C62BA8}"/>
              </a:ext>
            </a:extLst>
          </p:cNvPr>
          <p:cNvSpPr>
            <a:spLocks noGrp="1"/>
          </p:cNvSpPr>
          <p:nvPr/>
        </p:nvSpPr>
        <p:spPr>
          <a:xfrm>
            <a:off x="6541082" y="1510147"/>
            <a:ext cx="85725" cy="85725"/>
          </a:xfrm>
          <a:prstGeom prst="triangle">
            <a:avLst/>
          </a:prstGeom>
          <a:solidFill>
            <a:srgbClr val="C45A14"/>
          </a:solidFill>
          <a:ln w="0">
            <a:solidFill>
              <a:srgbClr val="C45A14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current-action-stem">
            <a:extLst>
              <a:ext uri="{FF2B5EF4-FFF2-40B4-BE49-F238E27FC236}">
                <a16:creationId xmlns:a16="http://schemas.microsoft.com/office/drawing/2014/main" id="{1775661C-BAF3-4620-AB14-983E4B8E9E27}"/>
              </a:ext>
            </a:extLst>
          </p:cNvPr>
          <p:cNvSpPr>
            <a:spLocks noGrp="1"/>
          </p:cNvSpPr>
          <p:nvPr/>
        </p:nvSpPr>
        <p:spPr>
          <a:xfrm>
            <a:off x="7531682" y="1557772"/>
            <a:ext cx="95250" cy="0"/>
          </a:xfrm>
          <a:prstGeom prst="line">
            <a:avLst/>
          </a:prstGeom>
          <a:noFill/>
          <a:ln w="17145">
            <a:solidFill>
              <a:srgbClr val="17212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6" name="current-action-up">
            <a:extLst>
              <a:ext uri="{FF2B5EF4-FFF2-40B4-BE49-F238E27FC236}">
                <a16:creationId xmlns:a16="http://schemas.microsoft.com/office/drawing/2014/main" id="{66A38DA5-1F4A-4603-8EC9-BAE8429062B4}"/>
              </a:ext>
            </a:extLst>
          </p:cNvPr>
          <p:cNvSpPr>
            <a:spLocks noGrp="1"/>
          </p:cNvSpPr>
          <p:nvPr/>
        </p:nvSpPr>
        <p:spPr>
          <a:xfrm>
            <a:off x="8504374" y="787403"/>
            <a:ext cx="0" cy="733425"/>
          </a:xfrm>
          <a:prstGeom prst="line">
            <a:avLst/>
          </a:prstGeom>
          <a:noFill/>
          <a:ln w="17145">
            <a:solidFill>
              <a:srgbClr val="B33A3A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7" name="current-action-down">
            <a:extLst>
              <a:ext uri="{FF2B5EF4-FFF2-40B4-BE49-F238E27FC236}">
                <a16:creationId xmlns:a16="http://schemas.microsoft.com/office/drawing/2014/main" id="{F5CACB05-BCF1-4E33-A8C2-932B0E08FE5E}"/>
              </a:ext>
            </a:extLst>
          </p:cNvPr>
          <p:cNvSpPr>
            <a:spLocks noGrp="1"/>
          </p:cNvSpPr>
          <p:nvPr/>
        </p:nvSpPr>
        <p:spPr>
          <a:xfrm>
            <a:off x="8504374" y="1520828"/>
            <a:ext cx="0" cy="914400"/>
          </a:xfrm>
          <a:prstGeom prst="line">
            <a:avLst/>
          </a:prstGeom>
          <a:noFill/>
          <a:ln w="17145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8" name="current-action-up-out">
            <a:extLst>
              <a:ext uri="{FF2B5EF4-FFF2-40B4-BE49-F238E27FC236}">
                <a16:creationId xmlns:a16="http://schemas.microsoft.com/office/drawing/2014/main" id="{0B964772-7478-4E01-854B-73C755E6FBF2}"/>
              </a:ext>
            </a:extLst>
          </p:cNvPr>
          <p:cNvSpPr>
            <a:spLocks noGrp="1"/>
          </p:cNvSpPr>
          <p:nvPr/>
        </p:nvSpPr>
        <p:spPr>
          <a:xfrm>
            <a:off x="8504374" y="787403"/>
            <a:ext cx="114300" cy="0"/>
          </a:xfrm>
          <a:prstGeom prst="line">
            <a:avLst/>
          </a:prstGeom>
          <a:noFill/>
          <a:ln w="17145">
            <a:solidFill>
              <a:srgbClr val="B33A3A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9" name="current-action-down-out">
            <a:extLst>
              <a:ext uri="{FF2B5EF4-FFF2-40B4-BE49-F238E27FC236}">
                <a16:creationId xmlns:a16="http://schemas.microsoft.com/office/drawing/2014/main" id="{A7C9F19B-6660-477A-A6D8-F22016B7F5AC}"/>
              </a:ext>
            </a:extLst>
          </p:cNvPr>
          <p:cNvSpPr>
            <a:spLocks noGrp="1"/>
          </p:cNvSpPr>
          <p:nvPr/>
        </p:nvSpPr>
        <p:spPr>
          <a:xfrm>
            <a:off x="8504374" y="2435228"/>
            <a:ext cx="114300" cy="0"/>
          </a:xfrm>
          <a:prstGeom prst="line">
            <a:avLst/>
          </a:prstGeom>
          <a:noFill/>
          <a:ln w="17145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0" name="recent-action-head">
            <a:extLst>
              <a:ext uri="{FF2B5EF4-FFF2-40B4-BE49-F238E27FC236}">
                <a16:creationId xmlns:a16="http://schemas.microsoft.com/office/drawing/2014/main" id="{C0AFCB28-852B-4879-A60E-C2CFF8A67B15}"/>
              </a:ext>
            </a:extLst>
          </p:cNvPr>
          <p:cNvSpPr>
            <a:spLocks noGrp="1"/>
          </p:cNvSpPr>
          <p:nvPr/>
        </p:nvSpPr>
        <p:spPr>
          <a:xfrm rot="5400000">
            <a:off x="8580574" y="749303"/>
            <a:ext cx="85725" cy="85725"/>
          </a:xfrm>
          <a:prstGeom prst="triangle">
            <a:avLst/>
          </a:prstGeom>
          <a:solidFill>
            <a:srgbClr val="B33A3A"/>
          </a:solidFill>
          <a:ln w="0">
            <a:solidFill>
              <a:srgbClr val="B33A3A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1" name="causal-action-head">
            <a:extLst>
              <a:ext uri="{FF2B5EF4-FFF2-40B4-BE49-F238E27FC236}">
                <a16:creationId xmlns:a16="http://schemas.microsoft.com/office/drawing/2014/main" id="{104526E7-4EF6-41B0-82B1-A8EE4D624ED0}"/>
              </a:ext>
            </a:extLst>
          </p:cNvPr>
          <p:cNvSpPr>
            <a:spLocks noGrp="1"/>
          </p:cNvSpPr>
          <p:nvPr/>
        </p:nvSpPr>
        <p:spPr>
          <a:xfrm rot="5400000">
            <a:off x="8580574" y="2397128"/>
            <a:ext cx="85725" cy="85725"/>
          </a:xfrm>
          <a:prstGeom prst="triangle">
            <a:avLst/>
          </a:prstGeom>
          <a:solidFill>
            <a:srgbClr val="2E7D4F"/>
          </a:solidFill>
          <a:ln w="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2" name="shared-prompt-title">
            <a:extLst>
              <a:ext uri="{FF2B5EF4-FFF2-40B4-BE49-F238E27FC236}">
                <a16:creationId xmlns:a16="http://schemas.microsoft.com/office/drawing/2014/main" id="{A9B42570-4912-437A-94B9-495443017946}"/>
              </a:ext>
            </a:extLst>
          </p:cNvPr>
          <p:cNvSpPr>
            <a:spLocks noGrp="1"/>
          </p:cNvSpPr>
          <p:nvPr/>
        </p:nvSpPr>
        <p:spPr>
          <a:xfrm>
            <a:off x="285750" y="18097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Shared </a:t>
            </a:r>
            <a:r>
              <a:rPr lang="en-CN" sz="1575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Context</a:t>
            </a:r>
            <a:endParaRPr sz="1575" b="1" dirty="0">
              <a:solidFill>
                <a:srgbClr val="17212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goal-label">
            <a:extLst>
              <a:ext uri="{FF2B5EF4-FFF2-40B4-BE49-F238E27FC236}">
                <a16:creationId xmlns:a16="http://schemas.microsoft.com/office/drawing/2014/main" id="{4EC935C0-3B1F-4F1A-8D32-17E067328E03}"/>
              </a:ext>
            </a:extLst>
          </p:cNvPr>
          <p:cNvSpPr>
            <a:spLocks noGrp="1"/>
          </p:cNvSpPr>
          <p:nvPr/>
        </p:nvSpPr>
        <p:spPr>
          <a:xfrm>
            <a:off x="285750" y="4953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200" b="1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66727D"/>
                </a:solidFill>
                <a:latin typeface="Arial"/>
                <a:ea typeface="Arial"/>
                <a:cs typeface="Arial"/>
              </a:rPr>
              <a:t>Goal</a:t>
            </a:r>
          </a:p>
        </p:txBody>
      </p:sp>
      <p:sp>
        <p:nvSpPr>
          <p:cNvPr id="24" name="goal-value">
            <a:extLst>
              <a:ext uri="{FF2B5EF4-FFF2-40B4-BE49-F238E27FC236}">
                <a16:creationId xmlns:a16="http://schemas.microsoft.com/office/drawing/2014/main" id="{29F64F0A-A4FE-415C-AE00-6DA48F0E8345}"/>
              </a:ext>
            </a:extLst>
          </p:cNvPr>
          <p:cNvSpPr>
            <a:spLocks noGrp="1"/>
          </p:cNvSpPr>
          <p:nvPr/>
        </p:nvSpPr>
        <p:spPr>
          <a:xfrm>
            <a:off x="781050" y="495300"/>
            <a:ext cx="2714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2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pending shipment  →  SMS reminder</a:t>
            </a:r>
          </a:p>
        </p:txBody>
      </p:sp>
      <p:sp>
        <p:nvSpPr>
          <p:cNvPr id="25" name="trace-title">
            <a:extLst>
              <a:ext uri="{FF2B5EF4-FFF2-40B4-BE49-F238E27FC236}">
                <a16:creationId xmlns:a16="http://schemas.microsoft.com/office/drawing/2014/main" id="{90C432F5-CBEF-4448-9807-CE019EC563F5}"/>
              </a:ext>
            </a:extLst>
          </p:cNvPr>
          <p:cNvSpPr>
            <a:spLocks noGrp="1"/>
          </p:cNvSpPr>
          <p:nvPr/>
        </p:nvSpPr>
        <p:spPr>
          <a:xfrm>
            <a:off x="285750" y="800100"/>
            <a:ext cx="2000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Complete event trace</a:t>
            </a:r>
          </a:p>
        </p:txBody>
      </p:sp>
      <p:sp>
        <p:nvSpPr>
          <p:cNvPr id="26" name="trace-0-dot">
            <a:extLst>
              <a:ext uri="{FF2B5EF4-FFF2-40B4-BE49-F238E27FC236}">
                <a16:creationId xmlns:a16="http://schemas.microsoft.com/office/drawing/2014/main" id="{75E99575-2A19-486A-88BC-2EAA7276B8DE}"/>
              </a:ext>
            </a:extLst>
          </p:cNvPr>
          <p:cNvSpPr>
            <a:spLocks noGrp="1"/>
          </p:cNvSpPr>
          <p:nvPr/>
        </p:nvSpPr>
        <p:spPr>
          <a:xfrm>
            <a:off x="285750" y="1162050"/>
            <a:ext cx="304800" cy="304800"/>
          </a:xfrm>
          <a:prstGeom prst="ellipse">
            <a:avLst/>
          </a:prstGeom>
          <a:solidFill>
            <a:srgbClr val="F3F5F6"/>
          </a:solidFill>
          <a:ln w="14288">
            <a:solidFill>
              <a:srgbClr val="66727D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27D"/>
                </a:solidFill>
                <a:latin typeface="Arial"/>
                <a:ea typeface="Arial"/>
                <a:cs typeface="Arial"/>
              </a:rPr>
              <a:t>e1</a:t>
            </a:r>
          </a:p>
        </p:txBody>
      </p:sp>
      <p:sp>
        <p:nvSpPr>
          <p:cNvPr id="27" name="trace-1-dot">
            <a:extLst>
              <a:ext uri="{FF2B5EF4-FFF2-40B4-BE49-F238E27FC236}">
                <a16:creationId xmlns:a16="http://schemas.microsoft.com/office/drawing/2014/main" id="{1E009E3F-4ED4-4193-9B27-D5F41714634A}"/>
              </a:ext>
            </a:extLst>
          </p:cNvPr>
          <p:cNvSpPr>
            <a:spLocks noGrp="1"/>
          </p:cNvSpPr>
          <p:nvPr/>
        </p:nvSpPr>
        <p:spPr>
          <a:xfrm>
            <a:off x="609600" y="1162050"/>
            <a:ext cx="304800" cy="304800"/>
          </a:xfrm>
          <a:prstGeom prst="ellipse">
            <a:avLst/>
          </a:prstGeom>
          <a:solidFill>
            <a:srgbClr val="F3F5F6"/>
          </a:solidFill>
          <a:ln w="14288">
            <a:solidFill>
              <a:srgbClr val="66727D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27D"/>
                </a:solidFill>
                <a:latin typeface="Arial"/>
                <a:ea typeface="Arial"/>
                <a:cs typeface="Arial"/>
              </a:rPr>
              <a:t>…</a:t>
            </a:r>
          </a:p>
        </p:txBody>
      </p:sp>
      <p:sp>
        <p:nvSpPr>
          <p:cNvPr id="28" name="trace-2-dot">
            <a:extLst>
              <a:ext uri="{FF2B5EF4-FFF2-40B4-BE49-F238E27FC236}">
                <a16:creationId xmlns:a16="http://schemas.microsoft.com/office/drawing/2014/main" id="{855D64C7-1313-407D-8595-E111EDC58AC0}"/>
              </a:ext>
            </a:extLst>
          </p:cNvPr>
          <p:cNvSpPr>
            <a:spLocks noGrp="1"/>
          </p:cNvSpPr>
          <p:nvPr/>
        </p:nvSpPr>
        <p:spPr>
          <a:xfrm>
            <a:off x="933450" y="1162050"/>
            <a:ext cx="304800" cy="304800"/>
          </a:xfrm>
          <a:prstGeom prst="ellipse">
            <a:avLst/>
          </a:prstGeom>
          <a:solidFill>
            <a:srgbClr val="F3F5F6"/>
          </a:solidFill>
          <a:ln w="14288">
            <a:solidFill>
              <a:srgbClr val="66727D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27D"/>
                </a:solidFill>
                <a:latin typeface="Arial"/>
                <a:ea typeface="Arial"/>
                <a:cs typeface="Arial"/>
              </a:rPr>
              <a:t>e6</a:t>
            </a:r>
          </a:p>
        </p:txBody>
      </p:sp>
      <p:sp>
        <p:nvSpPr>
          <p:cNvPr id="29" name="trace-3-dot">
            <a:extLst>
              <a:ext uri="{FF2B5EF4-FFF2-40B4-BE49-F238E27FC236}">
                <a16:creationId xmlns:a16="http://schemas.microsoft.com/office/drawing/2014/main" id="{B4C7246A-2C40-4564-8599-1D3FD5705048}"/>
              </a:ext>
            </a:extLst>
          </p:cNvPr>
          <p:cNvSpPr>
            <a:spLocks noGrp="1"/>
          </p:cNvSpPr>
          <p:nvPr/>
        </p:nvSpPr>
        <p:spPr>
          <a:xfrm>
            <a:off x="1257300" y="1162050"/>
            <a:ext cx="304800" cy="304800"/>
          </a:xfrm>
          <a:prstGeom prst="ellipse">
            <a:avLst/>
          </a:prstGeom>
          <a:solidFill>
            <a:srgbClr val="FFF1E7"/>
          </a:solidFill>
          <a:ln w="14288">
            <a:solidFill>
              <a:srgbClr val="C45A14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C45A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45A14"/>
                </a:solidFill>
                <a:latin typeface="Arial"/>
                <a:ea typeface="Arial"/>
                <a:cs typeface="Arial"/>
              </a:rPr>
              <a:t>e7</a:t>
            </a:r>
          </a:p>
        </p:txBody>
      </p:sp>
      <p:sp>
        <p:nvSpPr>
          <p:cNvPr id="30" name="trace-4-dot">
            <a:extLst>
              <a:ext uri="{FF2B5EF4-FFF2-40B4-BE49-F238E27FC236}">
                <a16:creationId xmlns:a16="http://schemas.microsoft.com/office/drawing/2014/main" id="{CADC5127-6A47-4CFA-8200-2DDBDD8B1128}"/>
              </a:ext>
            </a:extLst>
          </p:cNvPr>
          <p:cNvSpPr>
            <a:spLocks noGrp="1"/>
          </p:cNvSpPr>
          <p:nvPr/>
        </p:nvSpPr>
        <p:spPr>
          <a:xfrm>
            <a:off x="1581150" y="1162050"/>
            <a:ext cx="304800" cy="304800"/>
          </a:xfrm>
          <a:prstGeom prst="ellipse">
            <a:avLst/>
          </a:prstGeom>
          <a:solidFill>
            <a:srgbClr val="F3F5F6"/>
          </a:solidFill>
          <a:ln w="14288">
            <a:solidFill>
              <a:srgbClr val="66727D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27D"/>
                </a:solidFill>
                <a:latin typeface="Arial"/>
                <a:ea typeface="Arial"/>
                <a:cs typeface="Arial"/>
              </a:rPr>
              <a:t>e8</a:t>
            </a:r>
          </a:p>
        </p:txBody>
      </p:sp>
      <p:sp>
        <p:nvSpPr>
          <p:cNvPr id="31" name="trace-5-dot">
            <a:extLst>
              <a:ext uri="{FF2B5EF4-FFF2-40B4-BE49-F238E27FC236}">
                <a16:creationId xmlns:a16="http://schemas.microsoft.com/office/drawing/2014/main" id="{5FE98C78-CD80-40F4-AD7F-D829BF09503C}"/>
              </a:ext>
            </a:extLst>
          </p:cNvPr>
          <p:cNvSpPr>
            <a:spLocks noGrp="1"/>
          </p:cNvSpPr>
          <p:nvPr/>
        </p:nvSpPr>
        <p:spPr>
          <a:xfrm>
            <a:off x="1905000" y="1162050"/>
            <a:ext cx="304800" cy="304800"/>
          </a:xfrm>
          <a:prstGeom prst="ellipse">
            <a:avLst/>
          </a:prstGeom>
          <a:solidFill>
            <a:srgbClr val="F3F5F6"/>
          </a:solidFill>
          <a:ln w="14288">
            <a:solidFill>
              <a:srgbClr val="66727D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27D"/>
                </a:solidFill>
                <a:latin typeface="Arial"/>
                <a:ea typeface="Arial"/>
                <a:cs typeface="Arial"/>
              </a:rPr>
              <a:t>…</a:t>
            </a:r>
          </a:p>
        </p:txBody>
      </p:sp>
      <p:sp>
        <p:nvSpPr>
          <p:cNvPr id="32" name="trace-6-dot">
            <a:extLst>
              <a:ext uri="{FF2B5EF4-FFF2-40B4-BE49-F238E27FC236}">
                <a16:creationId xmlns:a16="http://schemas.microsoft.com/office/drawing/2014/main" id="{6EBC596A-EB38-4378-8401-BAF3BCF78A6D}"/>
              </a:ext>
            </a:extLst>
          </p:cNvPr>
          <p:cNvSpPr>
            <a:spLocks noGrp="1"/>
          </p:cNvSpPr>
          <p:nvPr/>
        </p:nvSpPr>
        <p:spPr>
          <a:xfrm>
            <a:off x="2228850" y="1162050"/>
            <a:ext cx="304800" cy="304800"/>
          </a:xfrm>
          <a:prstGeom prst="ellipse">
            <a:avLst/>
          </a:prstGeom>
          <a:solidFill>
            <a:srgbClr val="EAF3F8"/>
          </a:solidFill>
          <a:ln w="14288">
            <a:solidFill>
              <a:srgbClr val="2E6F9E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e11</a:t>
            </a:r>
          </a:p>
        </p:txBody>
      </p:sp>
      <p:sp>
        <p:nvSpPr>
          <p:cNvPr id="33" name="trace-7-dot">
            <a:extLst>
              <a:ext uri="{FF2B5EF4-FFF2-40B4-BE49-F238E27FC236}">
                <a16:creationId xmlns:a16="http://schemas.microsoft.com/office/drawing/2014/main" id="{076144F2-1115-4D84-A24C-A6F3AB51ED57}"/>
              </a:ext>
            </a:extLst>
          </p:cNvPr>
          <p:cNvSpPr>
            <a:spLocks noGrp="1"/>
          </p:cNvSpPr>
          <p:nvPr/>
        </p:nvSpPr>
        <p:spPr>
          <a:xfrm>
            <a:off x="2552700" y="1162050"/>
            <a:ext cx="304800" cy="304800"/>
          </a:xfrm>
          <a:prstGeom prst="ellipse">
            <a:avLst/>
          </a:prstGeom>
          <a:solidFill>
            <a:srgbClr val="EAF3F8"/>
          </a:solidFill>
          <a:ln w="14288">
            <a:solidFill>
              <a:srgbClr val="2E6F9E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e12</a:t>
            </a:r>
          </a:p>
        </p:txBody>
      </p:sp>
      <p:sp>
        <p:nvSpPr>
          <p:cNvPr id="34" name="trace-8-dot">
            <a:extLst>
              <a:ext uri="{FF2B5EF4-FFF2-40B4-BE49-F238E27FC236}">
                <a16:creationId xmlns:a16="http://schemas.microsoft.com/office/drawing/2014/main" id="{8100205D-5BF4-40BF-A763-22DEFB770872}"/>
              </a:ext>
            </a:extLst>
          </p:cNvPr>
          <p:cNvSpPr>
            <a:spLocks noGrp="1"/>
          </p:cNvSpPr>
          <p:nvPr/>
        </p:nvSpPr>
        <p:spPr>
          <a:xfrm>
            <a:off x="2876550" y="1162050"/>
            <a:ext cx="304800" cy="304800"/>
          </a:xfrm>
          <a:prstGeom prst="ellipse">
            <a:avLst/>
          </a:prstGeom>
          <a:solidFill>
            <a:srgbClr val="EAF3F8"/>
          </a:solidFill>
          <a:ln w="14288">
            <a:solidFill>
              <a:srgbClr val="2E6F9E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e13</a:t>
            </a:r>
          </a:p>
        </p:txBody>
      </p:sp>
      <p:sp>
        <p:nvSpPr>
          <p:cNvPr id="35" name="trace-9-dot">
            <a:extLst>
              <a:ext uri="{FF2B5EF4-FFF2-40B4-BE49-F238E27FC236}">
                <a16:creationId xmlns:a16="http://schemas.microsoft.com/office/drawing/2014/main" id="{C7B39A8B-6B01-4C88-86A1-94CB177C1715}"/>
              </a:ext>
            </a:extLst>
          </p:cNvPr>
          <p:cNvSpPr>
            <a:spLocks noGrp="1"/>
          </p:cNvSpPr>
          <p:nvPr/>
        </p:nvSpPr>
        <p:spPr>
          <a:xfrm>
            <a:off x="3200400" y="1162050"/>
            <a:ext cx="304800" cy="304800"/>
          </a:xfrm>
          <a:prstGeom prst="ellipse">
            <a:avLst/>
          </a:prstGeom>
          <a:solidFill>
            <a:srgbClr val="EAF3F8"/>
          </a:solidFill>
          <a:ln w="14288">
            <a:solidFill>
              <a:srgbClr val="2E6F9E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e14</a:t>
            </a:r>
          </a:p>
        </p:txBody>
      </p:sp>
      <p:sp>
        <p:nvSpPr>
          <p:cNvPr id="36" name="summary-e6-id">
            <a:extLst>
              <a:ext uri="{FF2B5EF4-FFF2-40B4-BE49-F238E27FC236}">
                <a16:creationId xmlns:a16="http://schemas.microsoft.com/office/drawing/2014/main" id="{14C95885-F8AF-4F31-91E3-9900FFCE649E}"/>
              </a:ext>
            </a:extLst>
          </p:cNvPr>
          <p:cNvSpPr>
            <a:spLocks noGrp="1"/>
          </p:cNvSpPr>
          <p:nvPr/>
        </p:nvSpPr>
        <p:spPr>
          <a:xfrm>
            <a:off x="304800" y="1581150"/>
            <a:ext cx="342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200" b="1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27D"/>
                </a:solidFill>
                <a:latin typeface="Arial"/>
                <a:ea typeface="Arial"/>
                <a:cs typeface="Arial"/>
              </a:rPr>
              <a:t>e6</a:t>
            </a:r>
          </a:p>
        </p:txBody>
      </p:sp>
      <p:sp>
        <p:nvSpPr>
          <p:cNvPr id="37" name="summary-e6-text">
            <a:extLst>
              <a:ext uri="{FF2B5EF4-FFF2-40B4-BE49-F238E27FC236}">
                <a16:creationId xmlns:a16="http://schemas.microsoft.com/office/drawing/2014/main" id="{29724644-62B5-4C9E-BD6A-467BBA0CF6C3}"/>
              </a:ext>
            </a:extLst>
          </p:cNvPr>
          <p:cNvSpPr>
            <a:spLocks noGrp="1"/>
          </p:cNvSpPr>
          <p:nvPr/>
        </p:nvSpPr>
        <p:spPr>
          <a:xfrm>
            <a:off x="666750" y="15811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200" b="0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27D"/>
                </a:solidFill>
                <a:latin typeface="Arial"/>
                <a:ea typeface="Arial"/>
                <a:cs typeface="Arial"/>
              </a:rPr>
              <a:t>open pending orders</a:t>
            </a:r>
          </a:p>
        </p:txBody>
      </p:sp>
      <p:sp>
        <p:nvSpPr>
          <p:cNvPr id="38" name="summary-e7-id">
            <a:extLst>
              <a:ext uri="{FF2B5EF4-FFF2-40B4-BE49-F238E27FC236}">
                <a16:creationId xmlns:a16="http://schemas.microsoft.com/office/drawing/2014/main" id="{0B04DDBB-7DBD-4C3F-8FE5-52D436E61D3D}"/>
              </a:ext>
            </a:extLst>
          </p:cNvPr>
          <p:cNvSpPr>
            <a:spLocks noGrp="1"/>
          </p:cNvSpPr>
          <p:nvPr/>
        </p:nvSpPr>
        <p:spPr>
          <a:xfrm>
            <a:off x="304800" y="1838325"/>
            <a:ext cx="342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200" b="1">
                <a:solidFill>
                  <a:srgbClr val="C45A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45A14"/>
                </a:solidFill>
                <a:latin typeface="Arial"/>
                <a:ea typeface="Arial"/>
                <a:cs typeface="Arial"/>
              </a:rPr>
              <a:t>e7</a:t>
            </a:r>
          </a:p>
        </p:txBody>
      </p:sp>
      <p:sp>
        <p:nvSpPr>
          <p:cNvPr id="39" name="summary-e7-text">
            <a:extLst>
              <a:ext uri="{FF2B5EF4-FFF2-40B4-BE49-F238E27FC236}">
                <a16:creationId xmlns:a16="http://schemas.microsoft.com/office/drawing/2014/main" id="{845BB38F-F39C-481E-A09D-B133DC44E2C6}"/>
              </a:ext>
            </a:extLst>
          </p:cNvPr>
          <p:cNvSpPr>
            <a:spLocks noGrp="1"/>
          </p:cNvSpPr>
          <p:nvPr/>
        </p:nvSpPr>
        <p:spPr>
          <a:xfrm>
            <a:off x="666750" y="1838325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200" b="0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27D"/>
                </a:solidFill>
                <a:latin typeface="Arial"/>
                <a:ea typeface="Arial"/>
                <a:cs typeface="Arial"/>
              </a:rPr>
              <a:t>inspect item + order ID</a:t>
            </a:r>
          </a:p>
        </p:txBody>
      </p:sp>
      <p:sp>
        <p:nvSpPr>
          <p:cNvPr id="40" name="summary-e8-id">
            <a:extLst>
              <a:ext uri="{FF2B5EF4-FFF2-40B4-BE49-F238E27FC236}">
                <a16:creationId xmlns:a16="http://schemas.microsoft.com/office/drawing/2014/main" id="{82ED315B-F591-45B4-B1C9-14BE91521837}"/>
              </a:ext>
            </a:extLst>
          </p:cNvPr>
          <p:cNvSpPr>
            <a:spLocks noGrp="1"/>
          </p:cNvSpPr>
          <p:nvPr/>
        </p:nvSpPr>
        <p:spPr>
          <a:xfrm>
            <a:off x="304800" y="2095500"/>
            <a:ext cx="342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200" b="1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27D"/>
                </a:solidFill>
                <a:latin typeface="Arial"/>
                <a:ea typeface="Arial"/>
                <a:cs typeface="Arial"/>
              </a:rPr>
              <a:t>e8</a:t>
            </a:r>
          </a:p>
        </p:txBody>
      </p:sp>
      <p:sp>
        <p:nvSpPr>
          <p:cNvPr id="41" name="summary-e8-text">
            <a:extLst>
              <a:ext uri="{FF2B5EF4-FFF2-40B4-BE49-F238E27FC236}">
                <a16:creationId xmlns:a16="http://schemas.microsoft.com/office/drawing/2014/main" id="{70D49823-48B6-4ED1-83DC-B655CB1FB553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200" b="0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27D"/>
                </a:solidFill>
                <a:latin typeface="Arial"/>
                <a:ea typeface="Arial"/>
                <a:cs typeface="Arial"/>
              </a:rPr>
              <a:t>switch to Messages</a:t>
            </a:r>
          </a:p>
        </p:txBody>
      </p:sp>
      <p:sp>
        <p:nvSpPr>
          <p:cNvPr id="42" name="summary-e12-id">
            <a:extLst>
              <a:ext uri="{FF2B5EF4-FFF2-40B4-BE49-F238E27FC236}">
                <a16:creationId xmlns:a16="http://schemas.microsoft.com/office/drawing/2014/main" id="{12B72A54-2BEE-458E-9EEB-40AA1EBC64CB}"/>
              </a:ext>
            </a:extLst>
          </p:cNvPr>
          <p:cNvSpPr>
            <a:spLocks noGrp="1"/>
          </p:cNvSpPr>
          <p:nvPr/>
        </p:nvSpPr>
        <p:spPr>
          <a:xfrm>
            <a:off x="304800" y="2352675"/>
            <a:ext cx="342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200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e12</a:t>
            </a:r>
          </a:p>
        </p:txBody>
      </p:sp>
      <p:sp>
        <p:nvSpPr>
          <p:cNvPr id="43" name="summary-e12-text">
            <a:extLst>
              <a:ext uri="{FF2B5EF4-FFF2-40B4-BE49-F238E27FC236}">
                <a16:creationId xmlns:a16="http://schemas.microsoft.com/office/drawing/2014/main" id="{62AEB2E7-7076-411E-B294-FDEEF030B1FD}"/>
              </a:ext>
            </a:extLst>
          </p:cNvPr>
          <p:cNvSpPr>
            <a:spLocks noGrp="1"/>
          </p:cNvSpPr>
          <p:nvPr/>
        </p:nvSpPr>
        <p:spPr>
          <a:xfrm>
            <a:off x="666750" y="2352675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200" b="0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27D"/>
                </a:solidFill>
                <a:latin typeface="Arial"/>
                <a:ea typeface="Arial"/>
                <a:cs typeface="Arial"/>
              </a:rPr>
              <a:t>choose recipient</a:t>
            </a:r>
          </a:p>
        </p:txBody>
      </p:sp>
      <p:sp>
        <p:nvSpPr>
          <p:cNvPr id="44" name="summary-e14-id">
            <a:extLst>
              <a:ext uri="{FF2B5EF4-FFF2-40B4-BE49-F238E27FC236}">
                <a16:creationId xmlns:a16="http://schemas.microsoft.com/office/drawing/2014/main" id="{66112484-A71D-4628-810B-8423CA4E828D}"/>
              </a:ext>
            </a:extLst>
          </p:cNvPr>
          <p:cNvSpPr>
            <a:spLocks noGrp="1"/>
          </p:cNvSpPr>
          <p:nvPr/>
        </p:nvSpPr>
        <p:spPr>
          <a:xfrm>
            <a:off x="304800" y="2609850"/>
            <a:ext cx="342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200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e14</a:t>
            </a:r>
          </a:p>
        </p:txBody>
      </p:sp>
      <p:sp>
        <p:nvSpPr>
          <p:cNvPr id="45" name="summary-e14-text">
            <a:extLst>
              <a:ext uri="{FF2B5EF4-FFF2-40B4-BE49-F238E27FC236}">
                <a16:creationId xmlns:a16="http://schemas.microsoft.com/office/drawing/2014/main" id="{F9B1F09C-930C-412D-BF3C-5D3BCA06199B}"/>
              </a:ext>
            </a:extLst>
          </p:cNvPr>
          <p:cNvSpPr>
            <a:spLocks noGrp="1"/>
          </p:cNvSpPr>
          <p:nvPr/>
        </p:nvSpPr>
        <p:spPr>
          <a:xfrm>
            <a:off x="666750" y="26098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200" b="0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27D"/>
                </a:solidFill>
                <a:latin typeface="Arial"/>
                <a:ea typeface="Arial"/>
                <a:cs typeface="Arial"/>
              </a:rPr>
              <a:t>focus composer</a:t>
            </a:r>
          </a:p>
        </p:txBody>
      </p:sp>
      <p:sp>
        <p:nvSpPr>
          <p:cNvPr id="46" name="recent-label">
            <a:extLst>
              <a:ext uri="{FF2B5EF4-FFF2-40B4-BE49-F238E27FC236}">
                <a16:creationId xmlns:a16="http://schemas.microsoft.com/office/drawing/2014/main" id="{377479B6-77D9-477C-8BF8-FC9E8F3B14F1}"/>
              </a:ext>
            </a:extLst>
          </p:cNvPr>
          <p:cNvSpPr>
            <a:spLocks noGrp="1"/>
          </p:cNvSpPr>
          <p:nvPr/>
        </p:nvSpPr>
        <p:spPr>
          <a:xfrm>
            <a:off x="3983181" y="520995"/>
            <a:ext cx="2057401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77500" lnSpcReduction="20000"/>
          </a:bodyPr>
          <a:lstStyle/>
          <a:p>
            <a:pPr algn="l">
              <a:lnSpc>
                <a:spcPct val="95000"/>
              </a:lnSpc>
              <a:buNone/>
              <a:defRPr sz="157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575" b="1" dirty="0">
                <a:solidFill>
                  <a:srgbClr val="2E6F9E"/>
                </a:solidFill>
                <a:latin typeface="Arial"/>
                <a:ea typeface="Arial"/>
                <a:cs typeface="Arial"/>
              </a:rPr>
              <a:t>Recent</a:t>
            </a:r>
            <a:r>
              <a:rPr lang="en-US" sz="1575" b="1" dirty="0">
                <a:solidFill>
                  <a:srgbClr val="2E6F9E"/>
                </a:solidFill>
                <a:latin typeface="Arial"/>
                <a:ea typeface="Arial"/>
                <a:cs typeface="Arial"/>
              </a:rPr>
              <a:t> High-Fidelity Images</a:t>
            </a:r>
            <a:endParaRPr sz="1575" b="1" dirty="0">
              <a:solidFill>
                <a:srgbClr val="2E6F9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recent-e11-dot">
            <a:extLst>
              <a:ext uri="{FF2B5EF4-FFF2-40B4-BE49-F238E27FC236}">
                <a16:creationId xmlns:a16="http://schemas.microsoft.com/office/drawing/2014/main" id="{4B0AA075-C987-4A11-B7EC-B289BD56FFFD}"/>
              </a:ext>
            </a:extLst>
          </p:cNvPr>
          <p:cNvSpPr>
            <a:spLocks noGrp="1"/>
          </p:cNvSpPr>
          <p:nvPr/>
        </p:nvSpPr>
        <p:spPr>
          <a:xfrm>
            <a:off x="4040332" y="825795"/>
            <a:ext cx="342900" cy="342900"/>
          </a:xfrm>
          <a:prstGeom prst="ellipse">
            <a:avLst/>
          </a:prstGeom>
          <a:solidFill>
            <a:srgbClr val="EAF3F8"/>
          </a:solidFill>
          <a:ln w="14288">
            <a:solidFill>
              <a:srgbClr val="2E6F9E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e11</a:t>
            </a:r>
          </a:p>
        </p:txBody>
      </p:sp>
      <p:sp>
        <p:nvSpPr>
          <p:cNvPr id="48" name="recent-e12-dot">
            <a:extLst>
              <a:ext uri="{FF2B5EF4-FFF2-40B4-BE49-F238E27FC236}">
                <a16:creationId xmlns:a16="http://schemas.microsoft.com/office/drawing/2014/main" id="{69EF4AA2-9CCF-445E-8153-CDCE57F1AEAA}"/>
              </a:ext>
            </a:extLst>
          </p:cNvPr>
          <p:cNvSpPr>
            <a:spLocks noGrp="1"/>
          </p:cNvSpPr>
          <p:nvPr/>
        </p:nvSpPr>
        <p:spPr>
          <a:xfrm>
            <a:off x="4478482" y="825795"/>
            <a:ext cx="342900" cy="342900"/>
          </a:xfrm>
          <a:prstGeom prst="ellipse">
            <a:avLst/>
          </a:prstGeom>
          <a:solidFill>
            <a:srgbClr val="EAF3F8"/>
          </a:solidFill>
          <a:ln w="14288">
            <a:solidFill>
              <a:srgbClr val="2E6F9E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e12</a:t>
            </a:r>
          </a:p>
        </p:txBody>
      </p:sp>
      <p:sp>
        <p:nvSpPr>
          <p:cNvPr id="49" name="recent-e13-dot">
            <a:extLst>
              <a:ext uri="{FF2B5EF4-FFF2-40B4-BE49-F238E27FC236}">
                <a16:creationId xmlns:a16="http://schemas.microsoft.com/office/drawing/2014/main" id="{E90C362C-A1D6-4BE7-8CEB-E9E2A7008128}"/>
              </a:ext>
            </a:extLst>
          </p:cNvPr>
          <p:cNvSpPr>
            <a:spLocks noGrp="1"/>
          </p:cNvSpPr>
          <p:nvPr/>
        </p:nvSpPr>
        <p:spPr>
          <a:xfrm>
            <a:off x="4916632" y="825795"/>
            <a:ext cx="342900" cy="342900"/>
          </a:xfrm>
          <a:prstGeom prst="ellipse">
            <a:avLst/>
          </a:prstGeom>
          <a:solidFill>
            <a:srgbClr val="EAF3F8"/>
          </a:solidFill>
          <a:ln w="14288">
            <a:solidFill>
              <a:srgbClr val="2E6F9E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e13</a:t>
            </a:r>
          </a:p>
        </p:txBody>
      </p:sp>
      <p:sp>
        <p:nvSpPr>
          <p:cNvPr id="50" name="recent-e14-dot">
            <a:extLst>
              <a:ext uri="{FF2B5EF4-FFF2-40B4-BE49-F238E27FC236}">
                <a16:creationId xmlns:a16="http://schemas.microsoft.com/office/drawing/2014/main" id="{805890C2-A385-471E-A22F-7E4911903AC9}"/>
              </a:ext>
            </a:extLst>
          </p:cNvPr>
          <p:cNvSpPr>
            <a:spLocks noGrp="1"/>
          </p:cNvSpPr>
          <p:nvPr/>
        </p:nvSpPr>
        <p:spPr>
          <a:xfrm>
            <a:off x="5354782" y="825795"/>
            <a:ext cx="342900" cy="342900"/>
          </a:xfrm>
          <a:prstGeom prst="ellipse">
            <a:avLst/>
          </a:prstGeom>
          <a:solidFill>
            <a:srgbClr val="EAF3F8"/>
          </a:solidFill>
          <a:ln w="14288">
            <a:solidFill>
              <a:srgbClr val="2E6F9E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e14</a:t>
            </a:r>
          </a:p>
        </p:txBody>
      </p:sp>
      <p:sp>
        <p:nvSpPr>
          <p:cNvPr id="51" name="causal-label">
            <a:extLst>
              <a:ext uri="{FF2B5EF4-FFF2-40B4-BE49-F238E27FC236}">
                <a16:creationId xmlns:a16="http://schemas.microsoft.com/office/drawing/2014/main" id="{F43058FD-F2E2-4D45-A0F0-7937BDF077D3}"/>
              </a:ext>
            </a:extLst>
          </p:cNvPr>
          <p:cNvSpPr>
            <a:spLocks noGrp="1"/>
          </p:cNvSpPr>
          <p:nvPr/>
        </p:nvSpPr>
        <p:spPr>
          <a:xfrm>
            <a:off x="4058805" y="1344189"/>
            <a:ext cx="1428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575" b="1">
                <a:solidFill>
                  <a:srgbClr val="C45A1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45A14"/>
                </a:solidFill>
                <a:latin typeface="Arial"/>
                <a:ea typeface="Arial"/>
                <a:cs typeface="Arial"/>
              </a:rPr>
              <a:t>CausalCache</a:t>
            </a:r>
          </a:p>
        </p:txBody>
      </p:sp>
      <p:sp>
        <p:nvSpPr>
          <p:cNvPr id="52" name="causal-e6-dot">
            <a:extLst>
              <a:ext uri="{FF2B5EF4-FFF2-40B4-BE49-F238E27FC236}">
                <a16:creationId xmlns:a16="http://schemas.microsoft.com/office/drawing/2014/main" id="{9684E93E-8A5E-4B86-AD80-386775412B67}"/>
              </a:ext>
            </a:extLst>
          </p:cNvPr>
          <p:cNvSpPr>
            <a:spLocks noGrp="1"/>
          </p:cNvSpPr>
          <p:nvPr/>
        </p:nvSpPr>
        <p:spPr>
          <a:xfrm>
            <a:off x="4058805" y="1629939"/>
            <a:ext cx="342900" cy="342900"/>
          </a:xfrm>
          <a:prstGeom prst="ellipse">
            <a:avLst/>
          </a:prstGeom>
          <a:solidFill>
            <a:srgbClr val="FFF1E7"/>
          </a:solidFill>
          <a:ln w="14288">
            <a:solidFill>
              <a:srgbClr val="C45A14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C45A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C45A14"/>
                </a:solidFill>
                <a:latin typeface="Arial"/>
                <a:ea typeface="Arial"/>
                <a:cs typeface="Arial"/>
              </a:rPr>
              <a:t>e6</a:t>
            </a:r>
          </a:p>
        </p:txBody>
      </p:sp>
      <p:sp>
        <p:nvSpPr>
          <p:cNvPr id="53" name="causal-e7-dot">
            <a:extLst>
              <a:ext uri="{FF2B5EF4-FFF2-40B4-BE49-F238E27FC236}">
                <a16:creationId xmlns:a16="http://schemas.microsoft.com/office/drawing/2014/main" id="{521458AB-53BE-4166-9D74-C93F3D1C925C}"/>
              </a:ext>
            </a:extLst>
          </p:cNvPr>
          <p:cNvSpPr>
            <a:spLocks noGrp="1"/>
          </p:cNvSpPr>
          <p:nvPr/>
        </p:nvSpPr>
        <p:spPr>
          <a:xfrm>
            <a:off x="4496955" y="1629939"/>
            <a:ext cx="342900" cy="342900"/>
          </a:xfrm>
          <a:prstGeom prst="ellipse">
            <a:avLst/>
          </a:prstGeom>
          <a:solidFill>
            <a:srgbClr val="FFF1E7"/>
          </a:solidFill>
          <a:ln w="14288">
            <a:solidFill>
              <a:srgbClr val="C45A14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C45A14"/>
                </a:solidFill>
                <a:latin typeface="Arial"/>
                <a:ea typeface="Arial"/>
                <a:cs typeface="Arial"/>
              </a:defRPr>
            </a:pPr>
            <a:r>
              <a:rPr sz="1125" b="1" dirty="0">
                <a:solidFill>
                  <a:srgbClr val="C45A14"/>
                </a:solidFill>
                <a:latin typeface="Arial"/>
                <a:ea typeface="Arial"/>
                <a:cs typeface="Arial"/>
              </a:rPr>
              <a:t>e7</a:t>
            </a:r>
          </a:p>
        </p:txBody>
      </p:sp>
      <p:sp>
        <p:nvSpPr>
          <p:cNvPr id="54" name="causal-e8-dot">
            <a:extLst>
              <a:ext uri="{FF2B5EF4-FFF2-40B4-BE49-F238E27FC236}">
                <a16:creationId xmlns:a16="http://schemas.microsoft.com/office/drawing/2014/main" id="{FF618102-7C71-47BB-836B-EC3EBF48EFCB}"/>
              </a:ext>
            </a:extLst>
          </p:cNvPr>
          <p:cNvSpPr>
            <a:spLocks noGrp="1"/>
          </p:cNvSpPr>
          <p:nvPr/>
        </p:nvSpPr>
        <p:spPr>
          <a:xfrm>
            <a:off x="4935105" y="1629939"/>
            <a:ext cx="342900" cy="342900"/>
          </a:xfrm>
          <a:prstGeom prst="ellipse">
            <a:avLst/>
          </a:prstGeom>
          <a:solidFill>
            <a:srgbClr val="FFF1E7"/>
          </a:solidFill>
          <a:ln w="14288">
            <a:solidFill>
              <a:srgbClr val="C45A14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C45A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C45A14"/>
                </a:solidFill>
                <a:latin typeface="Arial"/>
                <a:ea typeface="Arial"/>
                <a:cs typeface="Arial"/>
              </a:rPr>
              <a:t>e8</a:t>
            </a:r>
          </a:p>
        </p:txBody>
      </p:sp>
      <p:sp>
        <p:nvSpPr>
          <p:cNvPr id="55" name="causal-e12-dot">
            <a:extLst>
              <a:ext uri="{FF2B5EF4-FFF2-40B4-BE49-F238E27FC236}">
                <a16:creationId xmlns:a16="http://schemas.microsoft.com/office/drawing/2014/main" id="{AAC720B7-90BB-465C-A910-03801A33288C}"/>
              </a:ext>
            </a:extLst>
          </p:cNvPr>
          <p:cNvSpPr>
            <a:spLocks noGrp="1"/>
          </p:cNvSpPr>
          <p:nvPr/>
        </p:nvSpPr>
        <p:spPr>
          <a:xfrm>
            <a:off x="5373255" y="1629939"/>
            <a:ext cx="342900" cy="342900"/>
          </a:xfrm>
          <a:prstGeom prst="ellipse">
            <a:avLst/>
          </a:prstGeom>
          <a:solidFill>
            <a:srgbClr val="EAF3F8"/>
          </a:solidFill>
          <a:ln w="14288">
            <a:solidFill>
              <a:srgbClr val="2E6F9E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e12</a:t>
            </a:r>
          </a:p>
        </p:txBody>
      </p:sp>
      <p:pic>
        <p:nvPicPr>
          <p:cNvPr id="126" name="Picture 1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161678" y="2150171"/>
            <a:ext cx="1207604" cy="1285875"/>
          </a:xfrm>
          <a:prstGeom prst="rect">
            <a:avLst/>
          </a:prstGeom>
        </p:spPr>
      </p:pic>
      <p:sp>
        <p:nvSpPr>
          <p:cNvPr id="58" name="e7-image-border">
            <a:extLst>
              <a:ext uri="{FF2B5EF4-FFF2-40B4-BE49-F238E27FC236}">
                <a16:creationId xmlns:a16="http://schemas.microsoft.com/office/drawing/2014/main" id="{828A0895-FBB0-43FF-A307-73ABAF4C379A}"/>
              </a:ext>
            </a:extLst>
          </p:cNvPr>
          <p:cNvSpPr>
            <a:spLocks noGrp="1"/>
          </p:cNvSpPr>
          <p:nvPr/>
        </p:nvSpPr>
        <p:spPr>
          <a:xfrm>
            <a:off x="4129520" y="2156223"/>
            <a:ext cx="1261000" cy="1285875"/>
          </a:xfrm>
          <a:prstGeom prst="roundRect">
            <a:avLst>
              <a:gd name="adj" fmla="val 2878"/>
            </a:avLst>
          </a:prstGeom>
          <a:noFill/>
          <a:ln w="19050">
            <a:solidFill>
              <a:srgbClr val="C45A14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9" name="current-label">
            <a:extLst>
              <a:ext uri="{FF2B5EF4-FFF2-40B4-BE49-F238E27FC236}">
                <a16:creationId xmlns:a16="http://schemas.microsoft.com/office/drawing/2014/main" id="{9E0BB765-D725-4D0F-B594-5329DFD9E7B5}"/>
              </a:ext>
            </a:extLst>
          </p:cNvPr>
          <p:cNvSpPr>
            <a:spLocks noGrp="1"/>
          </p:cNvSpPr>
          <p:nvPr/>
        </p:nvSpPr>
        <p:spPr>
          <a:xfrm>
            <a:off x="6173926" y="857250"/>
            <a:ext cx="1982932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/>
          </a:bodyPr>
          <a:lstStyle/>
          <a:p>
            <a:pPr algn="ctr">
              <a:lnSpc>
                <a:spcPct val="95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lang="en-US" sz="135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</a:t>
            </a:r>
            <a:r>
              <a:rPr sz="135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urrent</a:t>
            </a:r>
            <a:r>
              <a:rPr lang="zh-CN" altLang="en-US" sz="135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altLang="zh-CN" sz="135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Keyboard Image</a:t>
            </a:r>
            <a:endParaRPr sz="1350" b="1" dirty="0">
              <a:solidFill>
                <a:srgbClr val="17212B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29" name="Picture 12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163829" y="1169173"/>
            <a:ext cx="2126682" cy="590744"/>
          </a:xfrm>
          <a:prstGeom prst="rect">
            <a:avLst/>
          </a:prstGeom>
        </p:spPr>
      </p:pic>
      <p:sp>
        <p:nvSpPr>
          <p:cNvPr id="62" name="recent-action-label">
            <a:extLst>
              <a:ext uri="{FF2B5EF4-FFF2-40B4-BE49-F238E27FC236}">
                <a16:creationId xmlns:a16="http://schemas.microsoft.com/office/drawing/2014/main" id="{768912DE-ECC4-47CA-9908-F21841DC31A2}"/>
              </a:ext>
            </a:extLst>
          </p:cNvPr>
          <p:cNvSpPr>
            <a:spLocks noGrp="1"/>
          </p:cNvSpPr>
          <p:nvPr/>
        </p:nvSpPr>
        <p:spPr>
          <a:xfrm>
            <a:off x="8574802" y="63503"/>
            <a:ext cx="1123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350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Recent-4</a:t>
            </a:r>
          </a:p>
        </p:txBody>
      </p:sp>
      <p:sp>
        <p:nvSpPr>
          <p:cNvPr id="63" name="recent-cross">
            <a:extLst>
              <a:ext uri="{FF2B5EF4-FFF2-40B4-BE49-F238E27FC236}">
                <a16:creationId xmlns:a16="http://schemas.microsoft.com/office/drawing/2014/main" id="{0E02D744-9CF8-4343-8A08-1CD79E79771E}"/>
              </a:ext>
            </a:extLst>
          </p:cNvPr>
          <p:cNvSpPr>
            <a:spLocks noGrp="1"/>
          </p:cNvSpPr>
          <p:nvPr/>
        </p:nvSpPr>
        <p:spPr>
          <a:xfrm>
            <a:off x="9717802" y="25403"/>
            <a:ext cx="28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7466" lnSpcReduction="10000"/>
          </a:bodyPr>
          <a:lstStyle/>
          <a:p>
            <a:pPr algn="ctr">
              <a:lnSpc>
                <a:spcPct val="95000"/>
              </a:lnSpc>
              <a:buNone/>
              <a:defRPr sz="2025" b="1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B33A3A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64" name="recent-action">
            <a:extLst>
              <a:ext uri="{FF2B5EF4-FFF2-40B4-BE49-F238E27FC236}">
                <a16:creationId xmlns:a16="http://schemas.microsoft.com/office/drawing/2014/main" id="{67A8085D-1AA4-4BBA-BB66-81BB6E0869F8}"/>
              </a:ext>
            </a:extLst>
          </p:cNvPr>
          <p:cNvSpPr>
            <a:spLocks noGrp="1"/>
          </p:cNvSpPr>
          <p:nvPr/>
        </p:nvSpPr>
        <p:spPr>
          <a:xfrm>
            <a:off x="8694874" y="368303"/>
            <a:ext cx="14287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0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type:</a:t>
            </a:r>
          </a:p>
          <a:p>
            <a:pPr algn="l">
              <a:lnSpc>
                <a:spcPct val="90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Women's Cotton</a:t>
            </a:r>
          </a:p>
          <a:p>
            <a:pPr algn="l">
              <a:lnSpc>
                <a:spcPct val="90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Short Sleeve T-shirt,</a:t>
            </a:r>
          </a:p>
          <a:p>
            <a:pPr algn="l">
              <a:lnSpc>
                <a:spcPct val="90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212B"/>
                </a:solidFill>
                <a:latin typeface="Arial"/>
                <a:ea typeface="Arial"/>
                <a:cs typeface="Arial"/>
              </a:rPr>
              <a:t>202306010001</a:t>
            </a:r>
          </a:p>
        </p:txBody>
      </p:sp>
      <p:sp>
        <p:nvSpPr>
          <p:cNvPr id="65" name="recent-result-rule">
            <a:extLst>
              <a:ext uri="{FF2B5EF4-FFF2-40B4-BE49-F238E27FC236}">
                <a16:creationId xmlns:a16="http://schemas.microsoft.com/office/drawing/2014/main" id="{07533E0F-AC24-458E-AC7B-EAA3BE3840C5}"/>
              </a:ext>
            </a:extLst>
          </p:cNvPr>
          <p:cNvSpPr>
            <a:spLocks noGrp="1"/>
          </p:cNvSpPr>
          <p:nvPr/>
        </p:nvSpPr>
        <p:spPr>
          <a:xfrm>
            <a:off x="8694874" y="1492253"/>
            <a:ext cx="1428750" cy="0"/>
          </a:xfrm>
          <a:prstGeom prst="line">
            <a:avLst/>
          </a:prstGeom>
          <a:noFill/>
          <a:ln w="9525">
            <a:solidFill>
              <a:srgbClr val="E8EDF1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6" name="causal-action-label">
            <a:extLst>
              <a:ext uri="{FF2B5EF4-FFF2-40B4-BE49-F238E27FC236}">
                <a16:creationId xmlns:a16="http://schemas.microsoft.com/office/drawing/2014/main" id="{3954EE80-1CC3-44CE-A1DB-9388B24C62A1}"/>
              </a:ext>
            </a:extLst>
          </p:cNvPr>
          <p:cNvSpPr>
            <a:spLocks noGrp="1"/>
          </p:cNvSpPr>
          <p:nvPr/>
        </p:nvSpPr>
        <p:spPr>
          <a:xfrm>
            <a:off x="8694874" y="1720853"/>
            <a:ext cx="11239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buNone/>
              <a:defRPr sz="1350" b="1">
                <a:solidFill>
                  <a:srgbClr val="C45A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45A14"/>
                </a:solidFill>
                <a:latin typeface="Arial"/>
                <a:ea typeface="Arial"/>
                <a:cs typeface="Arial"/>
              </a:rPr>
              <a:t>CausalCache</a:t>
            </a:r>
          </a:p>
        </p:txBody>
      </p:sp>
      <p:sp>
        <p:nvSpPr>
          <p:cNvPr id="67" name="causal-check">
            <a:extLst>
              <a:ext uri="{FF2B5EF4-FFF2-40B4-BE49-F238E27FC236}">
                <a16:creationId xmlns:a16="http://schemas.microsoft.com/office/drawing/2014/main" id="{6EFB5E33-F4DB-46A0-A6BE-1D1BDE10AA1F}"/>
              </a:ext>
            </a:extLst>
          </p:cNvPr>
          <p:cNvSpPr>
            <a:spLocks noGrp="1"/>
          </p:cNvSpPr>
          <p:nvPr/>
        </p:nvSpPr>
        <p:spPr>
          <a:xfrm>
            <a:off x="9828349" y="1682753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2025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68" name="causal-action">
            <a:extLst>
              <a:ext uri="{FF2B5EF4-FFF2-40B4-BE49-F238E27FC236}">
                <a16:creationId xmlns:a16="http://schemas.microsoft.com/office/drawing/2014/main" id="{E2D38684-84C8-45BE-888A-0116BACD4E75}"/>
              </a:ext>
            </a:extLst>
          </p:cNvPr>
          <p:cNvSpPr>
            <a:spLocks noGrp="1"/>
          </p:cNvSpPr>
          <p:nvPr/>
        </p:nvSpPr>
        <p:spPr>
          <a:xfrm>
            <a:off x="8694874" y="2006603"/>
            <a:ext cx="1428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0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type:</a:t>
            </a:r>
          </a:p>
          <a:p>
            <a:pPr algn="l">
              <a:lnSpc>
                <a:spcPct val="90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经典白色T恤,</a:t>
            </a:r>
          </a:p>
          <a:p>
            <a:pPr algn="l">
              <a:lnSpc>
                <a:spcPct val="90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保湿面霜套装,</a:t>
            </a:r>
          </a:p>
          <a:p>
            <a:pPr algn="l">
              <a:lnSpc>
                <a:spcPct val="90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639281475036294</a:t>
            </a:r>
          </a:p>
        </p:txBody>
      </p:sp>
      <p:sp>
        <p:nvSpPr>
          <p:cNvPr id="69" name="causal-result-rule">
            <a:extLst>
              <a:ext uri="{FF2B5EF4-FFF2-40B4-BE49-F238E27FC236}">
                <a16:creationId xmlns:a16="http://schemas.microsoft.com/office/drawing/2014/main" id="{F979257B-A37D-4587-AB3B-FD8B27063617}"/>
              </a:ext>
            </a:extLst>
          </p:cNvPr>
          <p:cNvSpPr>
            <a:spLocks noGrp="1"/>
          </p:cNvSpPr>
          <p:nvPr/>
        </p:nvSpPr>
        <p:spPr>
          <a:xfrm>
            <a:off x="8694874" y="2863853"/>
            <a:ext cx="1428750" cy="0"/>
          </a:xfrm>
          <a:prstGeom prst="line">
            <a:avLst/>
          </a:prstGeom>
          <a:noFill/>
          <a:ln w="9525">
            <a:solidFill>
              <a:srgbClr val="E8EDF1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3D83DE7-CFDD-7E82-FEF6-6280BB19E7D2}"/>
              </a:ext>
            </a:extLst>
          </p:cNvPr>
          <p:cNvCxnSpPr>
            <a:endCxn id="47" idx="2"/>
          </p:cNvCxnSpPr>
          <p:nvPr/>
        </p:nvCxnSpPr>
        <p:spPr>
          <a:xfrm flipV="1">
            <a:off x="3619500" y="997245"/>
            <a:ext cx="420832" cy="3457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7F03416E-AB1F-7A7B-BCEA-F601B02876B2}"/>
              </a:ext>
            </a:extLst>
          </p:cNvPr>
          <p:cNvCxnSpPr/>
          <p:nvPr/>
        </p:nvCxnSpPr>
        <p:spPr>
          <a:xfrm>
            <a:off x="3636334" y="1343025"/>
            <a:ext cx="420832" cy="4286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Down Arrow 77">
            <a:extLst>
              <a:ext uri="{FF2B5EF4-FFF2-40B4-BE49-F238E27FC236}">
                <a16:creationId xmlns:a16="http://schemas.microsoft.com/office/drawing/2014/main" id="{34E2B314-5650-18ED-5743-3AF95A88704E}"/>
              </a:ext>
            </a:extLst>
          </p:cNvPr>
          <p:cNvSpPr/>
          <p:nvPr/>
        </p:nvSpPr>
        <p:spPr>
          <a:xfrm>
            <a:off x="4668405" y="2015255"/>
            <a:ext cx="45719" cy="1000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9" name="Right Brace 78">
            <a:extLst>
              <a:ext uri="{FF2B5EF4-FFF2-40B4-BE49-F238E27FC236}">
                <a16:creationId xmlns:a16="http://schemas.microsoft.com/office/drawing/2014/main" id="{CAF379E8-8C3F-0235-E532-24E7470E0290}"/>
              </a:ext>
            </a:extLst>
          </p:cNvPr>
          <p:cNvSpPr/>
          <p:nvPr/>
        </p:nvSpPr>
        <p:spPr>
          <a:xfrm>
            <a:off x="5749844" y="962025"/>
            <a:ext cx="155448" cy="914400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DB745FC-CE1E-3449-D5A0-18B12A493675}"/>
              </a:ext>
            </a:extLst>
          </p:cNvPr>
          <p:cNvCxnSpPr>
            <a:cxnSpLocks/>
          </p:cNvCxnSpPr>
          <p:nvPr/>
        </p:nvCxnSpPr>
        <p:spPr>
          <a:xfrm>
            <a:off x="5905292" y="1419225"/>
            <a:ext cx="2738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0655B4A-64DC-0F74-44E1-130549656C9A}"/>
              </a:ext>
            </a:extLst>
          </p:cNvPr>
          <p:cNvCxnSpPr>
            <a:cxnSpLocks/>
          </p:cNvCxnSpPr>
          <p:nvPr/>
        </p:nvCxnSpPr>
        <p:spPr>
          <a:xfrm>
            <a:off x="8230539" y="1484460"/>
            <a:ext cx="2738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22797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</Words>
  <Application>Microsoft Macintosh PowerPoint</Application>
  <DocSecurity>0</DocSecurity>
  <PresentationFormat>Custom</PresentationFormat>
  <Paragraphs>51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Jiaxuan Luo</cp:lastModifiedBy>
  <cp:revision>1</cp:revision>
  <dcterms:created xsi:type="dcterms:W3CDTF">2026-07-28T05:39:35Z</dcterms:created>
  <dcterms:modified xsi:type="dcterms:W3CDTF">2026-07-28T05:59:38Z</dcterms:modified>
</cp:coreProperties>
</file>